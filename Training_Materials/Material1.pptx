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84" r:id="rId5"/>
    <p:sldMasterId id="2147483672" r:id="rId6"/>
  </p:sldMasterIdLst>
  <p:notesMasterIdLst>
    <p:notesMasterId r:id="rId19"/>
  </p:notesMasterIdLst>
  <p:handoutMasterIdLst>
    <p:handoutMasterId r:id="rId20"/>
  </p:handoutMasterIdLst>
  <p:sldIdLst>
    <p:sldId id="278" r:id="rId7"/>
    <p:sldId id="290" r:id="rId8"/>
    <p:sldId id="280" r:id="rId9"/>
    <p:sldId id="281" r:id="rId10"/>
    <p:sldId id="282" r:id="rId11"/>
    <p:sldId id="293" r:id="rId12"/>
    <p:sldId id="292" r:id="rId13"/>
    <p:sldId id="289" r:id="rId14"/>
    <p:sldId id="285" r:id="rId15"/>
    <p:sldId id="286" r:id="rId16"/>
    <p:sldId id="291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99339-75FB-444A-9C6A-CB3EDD8BAF93}" v="4" dt="2026-08-09T00:49:51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64" d="100"/>
          <a:sy n="64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hi kondreddy" userId="87b990cbe0108a24" providerId="LiveId" clId="{D982A1B5-14D1-46D9-853A-632C19E73D80}"/>
    <pc:docChg chg="undo custSel addSld delSld modSld sldOrd addMainMaster modMainMaster">
      <pc:chgData name="Deepthi kondreddy" userId="87b990cbe0108a24" providerId="LiveId" clId="{D982A1B5-14D1-46D9-853A-632C19E73D80}" dt="2026-08-09T00:47:29.709" v="454" actId="700"/>
      <pc:docMkLst>
        <pc:docMk/>
      </pc:docMkLst>
      <pc:sldChg chg="modSp mod">
        <pc:chgData name="Deepthi kondreddy" userId="87b990cbe0108a24" providerId="LiveId" clId="{D982A1B5-14D1-46D9-853A-632C19E73D80}" dt="2026-08-09T00:34:06.555" v="264" actId="20577"/>
        <pc:sldMkLst>
          <pc:docMk/>
          <pc:sldMk cId="330254647" sldId="278"/>
        </pc:sldMkLst>
        <pc:spChg chg="mod">
          <ac:chgData name="Deepthi kondreddy" userId="87b990cbe0108a24" providerId="LiveId" clId="{D982A1B5-14D1-46D9-853A-632C19E73D80}" dt="2026-08-09T00:34:06.555" v="264" actId="20577"/>
          <ac:spMkLst>
            <pc:docMk/>
            <pc:sldMk cId="330254647" sldId="278"/>
            <ac:spMk id="4" creationId="{7E6C2337-E8BA-4538-993C-5F5C2B85BD34}"/>
          </ac:spMkLst>
        </pc:spChg>
      </pc:sldChg>
      <pc:sldChg chg="addSp delSp modSp mod modClrScheme chgLayout">
        <pc:chgData name="Deepthi kondreddy" userId="87b990cbe0108a24" providerId="LiveId" clId="{D982A1B5-14D1-46D9-853A-632C19E73D80}" dt="2026-08-09T00:47:29.709" v="454" actId="700"/>
        <pc:sldMkLst>
          <pc:docMk/>
          <pc:sldMk cId="981260481" sldId="290"/>
        </pc:sldMkLst>
        <pc:spChg chg="mod ord">
          <ac:chgData name="Deepthi kondreddy" userId="87b990cbe0108a24" providerId="LiveId" clId="{D982A1B5-14D1-46D9-853A-632C19E73D80}" dt="2026-08-09T00:47:29.709" v="454" actId="700"/>
          <ac:spMkLst>
            <pc:docMk/>
            <pc:sldMk cId="981260481" sldId="290"/>
            <ac:spMk id="2" creationId="{24AC6A58-EAE7-128A-2D32-5C7A70ECC479}"/>
          </ac:spMkLst>
        </pc:spChg>
        <pc:spChg chg="add del mod ord">
          <ac:chgData name="Deepthi kondreddy" userId="87b990cbe0108a24" providerId="LiveId" clId="{D982A1B5-14D1-46D9-853A-632C19E73D80}" dt="2026-08-09T00:47:29.709" v="454" actId="700"/>
          <ac:spMkLst>
            <pc:docMk/>
            <pc:sldMk cId="981260481" sldId="290"/>
            <ac:spMk id="13" creationId="{877508C9-E1A1-10F8-05D6-247864AF418B}"/>
          </ac:spMkLst>
        </pc:spChg>
      </pc:sldChg>
      <pc:sldChg chg="addSp modSp new mod ord">
        <pc:chgData name="Deepthi kondreddy" userId="87b990cbe0108a24" providerId="LiveId" clId="{D982A1B5-14D1-46D9-853A-632C19E73D80}" dt="2026-08-09T00:17:40.668" v="167"/>
        <pc:sldMkLst>
          <pc:docMk/>
          <pc:sldMk cId="2787606451" sldId="293"/>
        </pc:sldMkLst>
        <pc:spChg chg="mod">
          <ac:chgData name="Deepthi kondreddy" userId="87b990cbe0108a24" providerId="LiveId" clId="{D982A1B5-14D1-46D9-853A-632C19E73D80}" dt="2026-08-09T00:12:00.760" v="4"/>
          <ac:spMkLst>
            <pc:docMk/>
            <pc:sldMk cId="2787606451" sldId="293"/>
            <ac:spMk id="2" creationId="{801A4EDF-814C-D955-6029-576FE7B9D795}"/>
          </ac:spMkLst>
        </pc:spChg>
        <pc:spChg chg="add mod">
          <ac:chgData name="Deepthi kondreddy" userId="87b990cbe0108a24" providerId="LiveId" clId="{D982A1B5-14D1-46D9-853A-632C19E73D80}" dt="2026-08-09T00:17:40.668" v="153"/>
          <ac:spMkLst>
            <pc:docMk/>
            <pc:sldMk cId="2787606451" sldId="293"/>
            <ac:spMk id="3" creationId="{3F824330-F6BE-4127-BE5D-801B96B8A228}"/>
          </ac:spMkLst>
        </pc:spChg>
        <pc:spChg chg="add mod">
          <ac:chgData name="Deepthi kondreddy" userId="87b990cbe0108a24" providerId="LiveId" clId="{D982A1B5-14D1-46D9-853A-632C19E73D80}" dt="2026-08-09T00:12:00.773" v="26"/>
          <ac:spMkLst>
            <pc:docMk/>
            <pc:sldMk cId="2787606451" sldId="293"/>
            <ac:spMk id="4" creationId="{2920AA30-96B4-4AA0-8AE5-A1D6CD22535E}"/>
          </ac:spMkLst>
        </pc:spChg>
        <pc:spChg chg="add mod">
          <ac:chgData name="Deepthi kondreddy" userId="87b990cbe0108a24" providerId="LiveId" clId="{D982A1B5-14D1-46D9-853A-632C19E73D80}" dt="2026-08-09T00:17:40.668" v="161"/>
          <ac:spMkLst>
            <pc:docMk/>
            <pc:sldMk cId="2787606451" sldId="293"/>
            <ac:spMk id="5" creationId="{2D650BCD-337E-446E-A685-C02A15F7905E}"/>
          </ac:spMkLst>
        </pc:spChg>
        <pc:spChg chg="add mod">
          <ac:chgData name="Deepthi kondreddy" userId="87b990cbe0108a24" providerId="LiveId" clId="{D982A1B5-14D1-46D9-853A-632C19E73D80}" dt="2026-08-09T00:17:40.668" v="155"/>
          <ac:spMkLst>
            <pc:docMk/>
            <pc:sldMk cId="2787606451" sldId="293"/>
            <ac:spMk id="6" creationId="{CD08F79F-12D5-4A52-9620-20977EF239CA}"/>
          </ac:spMkLst>
        </pc:spChg>
        <pc:spChg chg="add mod">
          <ac:chgData name="Deepthi kondreddy" userId="87b990cbe0108a24" providerId="LiveId" clId="{D982A1B5-14D1-46D9-853A-632C19E73D80}" dt="2026-08-09T00:12:00.773" v="51"/>
          <ac:spMkLst>
            <pc:docMk/>
            <pc:sldMk cId="2787606451" sldId="293"/>
            <ac:spMk id="7" creationId="{B709F44D-DB68-4FA6-A925-6E76562EF024}"/>
          </ac:spMkLst>
        </pc:spChg>
        <pc:spChg chg="add mod">
          <ac:chgData name="Deepthi kondreddy" userId="87b990cbe0108a24" providerId="LiveId" clId="{D982A1B5-14D1-46D9-853A-632C19E73D80}" dt="2026-08-09T00:17:40.668" v="165"/>
          <ac:spMkLst>
            <pc:docMk/>
            <pc:sldMk cId="2787606451" sldId="293"/>
            <ac:spMk id="8" creationId="{0BB41906-3206-493F-92EF-FE025337BA7F}"/>
          </ac:spMkLst>
        </pc:spChg>
        <pc:spChg chg="add mod">
          <ac:chgData name="Deepthi kondreddy" userId="87b990cbe0108a24" providerId="LiveId" clId="{D982A1B5-14D1-46D9-853A-632C19E73D80}" dt="2026-08-09T00:17:40.668" v="157"/>
          <ac:spMkLst>
            <pc:docMk/>
            <pc:sldMk cId="2787606451" sldId="293"/>
            <ac:spMk id="9" creationId="{7DE04717-4B0C-4EC9-992F-F66DCA0A7D9A}"/>
          </ac:spMkLst>
        </pc:spChg>
        <pc:spChg chg="add mod">
          <ac:chgData name="Deepthi kondreddy" userId="87b990cbe0108a24" providerId="LiveId" clId="{D982A1B5-14D1-46D9-853A-632C19E73D80}" dt="2026-08-09T00:12:00.791" v="76"/>
          <ac:spMkLst>
            <pc:docMk/>
            <pc:sldMk cId="2787606451" sldId="293"/>
            <ac:spMk id="10" creationId="{6C4B84F0-8D3C-4048-8790-5F6FFD6DAC59}"/>
          </ac:spMkLst>
        </pc:spChg>
        <pc:spChg chg="add mod">
          <ac:chgData name="Deepthi kondreddy" userId="87b990cbe0108a24" providerId="LiveId" clId="{D982A1B5-14D1-46D9-853A-632C19E73D80}" dt="2026-08-09T00:17:40.668" v="167"/>
          <ac:spMkLst>
            <pc:docMk/>
            <pc:sldMk cId="2787606451" sldId="293"/>
            <ac:spMk id="11" creationId="{D1ED41EA-8BA5-4EE7-A4B9-A6191F50418F}"/>
          </ac:spMkLst>
        </pc:spChg>
      </pc:sldChg>
      <pc:sldChg chg="addSp delSp modSp add mod">
        <pc:chgData name="Deepthi kondreddy" userId="87b990cbe0108a24" providerId="LiveId" clId="{D982A1B5-14D1-46D9-853A-632C19E73D80}" dt="2026-08-09T00:43:45.268" v="452"/>
        <pc:sldMkLst>
          <pc:docMk/>
          <pc:sldMk cId="18199462" sldId="294"/>
        </pc:sldMkLst>
        <pc:spChg chg="mod">
          <ac:chgData name="Deepthi kondreddy" userId="87b990cbe0108a24" providerId="LiveId" clId="{D982A1B5-14D1-46D9-853A-632C19E73D80}" dt="2026-08-09T00:35:47.947" v="276" actId="20577"/>
          <ac:spMkLst>
            <pc:docMk/>
            <pc:sldMk cId="18199462" sldId="294"/>
            <ac:spMk id="3" creationId="{6FAA8A2F-6454-4F0A-87F2-D3EEAD280E11}"/>
          </ac:spMkLst>
        </pc:spChg>
        <pc:spChg chg="mod">
          <ac:chgData name="Deepthi kondreddy" userId="87b990cbe0108a24" providerId="LiveId" clId="{D982A1B5-14D1-46D9-853A-632C19E73D80}" dt="2026-08-09T00:36:02.717" v="288" actId="20577"/>
          <ac:spMkLst>
            <pc:docMk/>
            <pc:sldMk cId="18199462" sldId="294"/>
            <ac:spMk id="11" creationId="{1B6CB722-3A9E-4BE8-B798-963DA242C654}"/>
          </ac:spMkLst>
        </pc:spChg>
        <pc:spChg chg="add del mod">
          <ac:chgData name="Deepthi kondreddy" userId="87b990cbe0108a24" providerId="LiveId" clId="{D982A1B5-14D1-46D9-853A-632C19E73D80}" dt="2026-08-09T00:43:45.268" v="452"/>
          <ac:spMkLst>
            <pc:docMk/>
            <pc:sldMk cId="18199462" sldId="294"/>
            <ac:spMk id="13" creationId="{F4318781-892D-2F06-7C18-7381E12DCE6A}"/>
          </ac:spMkLst>
        </pc:spChg>
      </pc:sldChg>
      <pc:sldChg chg="addSp modSp new del mod ord">
        <pc:chgData name="Deepthi kondreddy" userId="87b990cbe0108a24" providerId="LiveId" clId="{D982A1B5-14D1-46D9-853A-632C19E73D80}" dt="2026-08-09T00:35:07.100" v="265" actId="2696"/>
        <pc:sldMkLst>
          <pc:docMk/>
          <pc:sldMk cId="427529068" sldId="294"/>
        </pc:sldMkLst>
        <pc:spChg chg="mod">
          <ac:chgData name="Deepthi kondreddy" userId="87b990cbe0108a24" providerId="LiveId" clId="{D982A1B5-14D1-46D9-853A-632C19E73D80}" dt="2026-08-09T00:15:44.317" v="90"/>
          <ac:spMkLst>
            <pc:docMk/>
            <pc:sldMk cId="427529068" sldId="294"/>
            <ac:spMk id="2" creationId="{79FF2A3E-1410-3A00-5DA2-EC6BDEE8BCBE}"/>
          </ac:spMkLst>
        </pc:spChg>
        <pc:spChg chg="add mod">
          <ac:chgData name="Deepthi kondreddy" userId="87b990cbe0108a24" providerId="LiveId" clId="{D982A1B5-14D1-46D9-853A-632C19E73D80}" dt="2026-08-09T00:27:32.485" v="237"/>
          <ac:spMkLst>
            <pc:docMk/>
            <pc:sldMk cId="427529068" sldId="294"/>
            <ac:spMk id="3" creationId="{6FAA8A2F-6454-4F0A-87F2-D3EEAD280E11}"/>
          </ac:spMkLst>
        </pc:spChg>
        <pc:spChg chg="add mod">
          <ac:chgData name="Deepthi kondreddy" userId="87b990cbe0108a24" providerId="LiveId" clId="{D982A1B5-14D1-46D9-853A-632C19E73D80}" dt="2026-08-09T00:27:08.632" v="202"/>
          <ac:spMkLst>
            <pc:docMk/>
            <pc:sldMk cId="427529068" sldId="294"/>
            <ac:spMk id="4" creationId="{4A316B3E-CFD2-4F6B-93EC-8A9796428659}"/>
          </ac:spMkLst>
        </pc:spChg>
        <pc:spChg chg="add mod">
          <ac:chgData name="Deepthi kondreddy" userId="87b990cbe0108a24" providerId="LiveId" clId="{D982A1B5-14D1-46D9-853A-632C19E73D80}" dt="2026-08-09T00:27:32.487" v="244"/>
          <ac:spMkLst>
            <pc:docMk/>
            <pc:sldMk cId="427529068" sldId="294"/>
            <ac:spMk id="5" creationId="{C70CC3E9-F4D3-41FF-8B5E-9C9FFCB87FC9}"/>
          </ac:spMkLst>
        </pc:spChg>
        <pc:spChg chg="add mod">
          <ac:chgData name="Deepthi kondreddy" userId="87b990cbe0108a24" providerId="LiveId" clId="{D982A1B5-14D1-46D9-853A-632C19E73D80}" dt="2026-08-09T00:27:08.632" v="206"/>
          <ac:spMkLst>
            <pc:docMk/>
            <pc:sldMk cId="427529068" sldId="294"/>
            <ac:spMk id="6" creationId="{47C91869-C3B4-4DC8-8C86-16E2F60AA54E}"/>
          </ac:spMkLst>
        </pc:spChg>
        <pc:spChg chg="add mod">
          <ac:chgData name="Deepthi kondreddy" userId="87b990cbe0108a24" providerId="LiveId" clId="{D982A1B5-14D1-46D9-853A-632C19E73D80}" dt="2026-08-09T00:27:32.487" v="251"/>
          <ac:spMkLst>
            <pc:docMk/>
            <pc:sldMk cId="427529068" sldId="294"/>
            <ac:spMk id="7" creationId="{8A635771-B36A-4C8C-ACAC-9CEB0F3C3583}"/>
          </ac:spMkLst>
        </pc:spChg>
        <pc:spChg chg="add mod">
          <ac:chgData name="Deepthi kondreddy" userId="87b990cbe0108a24" providerId="LiveId" clId="{D982A1B5-14D1-46D9-853A-632C19E73D80}" dt="2026-08-09T00:27:08.632" v="210"/>
          <ac:spMkLst>
            <pc:docMk/>
            <pc:sldMk cId="427529068" sldId="294"/>
            <ac:spMk id="8" creationId="{604FB646-E468-4144-B8E8-50B281993F88}"/>
          </ac:spMkLst>
        </pc:spChg>
        <pc:spChg chg="add mod">
          <ac:chgData name="Deepthi kondreddy" userId="87b990cbe0108a24" providerId="LiveId" clId="{D982A1B5-14D1-46D9-853A-632C19E73D80}" dt="2026-08-09T00:27:08.637" v="216"/>
          <ac:spMkLst>
            <pc:docMk/>
            <pc:sldMk cId="427529068" sldId="294"/>
            <ac:spMk id="9" creationId="{410BEF96-D143-490A-B2FB-A9FB76F4B724}"/>
          </ac:spMkLst>
        </pc:spChg>
        <pc:spChg chg="add mod">
          <ac:chgData name="Deepthi kondreddy" userId="87b990cbe0108a24" providerId="LiveId" clId="{D982A1B5-14D1-46D9-853A-632C19E73D80}" dt="2026-08-09T00:27:08.637" v="218"/>
          <ac:spMkLst>
            <pc:docMk/>
            <pc:sldMk cId="427529068" sldId="294"/>
            <ac:spMk id="10" creationId="{9148DAA8-8580-49AF-A63C-9A33EB4C7440}"/>
          </ac:spMkLst>
        </pc:spChg>
        <pc:spChg chg="add mod">
          <ac:chgData name="Deepthi kondreddy" userId="87b990cbe0108a24" providerId="LiveId" clId="{D982A1B5-14D1-46D9-853A-632C19E73D80}" dt="2026-08-09T00:27:08.632" v="212"/>
          <ac:spMkLst>
            <pc:docMk/>
            <pc:sldMk cId="427529068" sldId="294"/>
            <ac:spMk id="11" creationId="{1B6CB722-3A9E-4BE8-B798-963DA242C654}"/>
          </ac:spMkLst>
        </pc:spChg>
        <pc:spChg chg="add mod">
          <ac:chgData name="Deepthi kondreddy" userId="87b990cbe0108a24" providerId="LiveId" clId="{D982A1B5-14D1-46D9-853A-632C19E73D80}" dt="2026-08-09T00:27:08.636" v="214"/>
          <ac:spMkLst>
            <pc:docMk/>
            <pc:sldMk cId="427529068" sldId="294"/>
            <ac:spMk id="12" creationId="{839F6B26-42B7-4487-A1F2-F4EC0636E2BA}"/>
          </ac:spMkLst>
        </pc:spChg>
      </pc:sldChg>
      <pc:sldMasterChg chg="modSp mod modSldLayout">
        <pc:chgData name="Deepthi kondreddy" userId="87b990cbe0108a24" providerId="LiveId" clId="{D982A1B5-14D1-46D9-853A-632C19E73D80}" dt="2026-08-09T00:41:40.828" v="448" actId="20577"/>
        <pc:sldMasterMkLst>
          <pc:docMk/>
          <pc:sldMasterMk cId="2768849038" sldId="2147483660"/>
        </pc:sldMasterMkLst>
        <pc:spChg chg="mod">
          <ac:chgData name="Deepthi kondreddy" userId="87b990cbe0108a24" providerId="LiveId" clId="{D982A1B5-14D1-46D9-853A-632C19E73D80}" dt="2026-08-09T00:41:40.828" v="448" actId="20577"/>
          <ac:spMkLst>
            <pc:docMk/>
            <pc:sldMasterMk cId="2768849038" sldId="2147483660"/>
            <ac:spMk id="5" creationId="{A81DDB45-653D-0C49-B78E-967549C7BA6C}"/>
          </ac:spMkLst>
        </pc:spChg>
        <pc:sldLayoutChg chg="modSp mod">
          <pc:chgData name="Deepthi kondreddy" userId="87b990cbe0108a24" providerId="LiveId" clId="{D982A1B5-14D1-46D9-853A-632C19E73D80}" dt="2026-08-09T00:39:38.463" v="352" actId="20577"/>
          <pc:sldLayoutMkLst>
            <pc:docMk/>
            <pc:sldMasterMk cId="2768849038" sldId="2147483660"/>
            <pc:sldLayoutMk cId="1151746138" sldId="2147483661"/>
          </pc:sldLayoutMkLst>
          <pc:spChg chg="mod">
            <ac:chgData name="Deepthi kondreddy" userId="87b990cbe0108a24" providerId="LiveId" clId="{D982A1B5-14D1-46D9-853A-632C19E73D80}" dt="2026-08-09T00:39:38.463" v="352" actId="20577"/>
            <ac:spMkLst>
              <pc:docMk/>
              <pc:sldMasterMk cId="2768849038" sldId="2147483660"/>
              <pc:sldLayoutMk cId="1151746138" sldId="2147483661"/>
              <ac:spMk id="5" creationId="{0A1CFD0D-118D-4441-A91C-1B836A28AAD2}"/>
            </ac:spMkLst>
          </pc:spChg>
        </pc:sldLayoutChg>
      </pc:sldMasterChg>
      <pc:sldMasterChg chg="new mod addSldLayout">
        <pc:chgData name="Deepthi kondreddy" userId="87b990cbe0108a24" providerId="LiveId" clId="{D982A1B5-14D1-46D9-853A-632C19E73D80}" dt="2026-08-09T00:39:59.527" v="353" actId="6938"/>
        <pc:sldMasterMkLst>
          <pc:docMk/>
          <pc:sldMasterMk cId="521090066" sldId="2147483672"/>
        </pc:sldMasterMkLst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790804329" sldId="2147483673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737557007" sldId="2147483674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387364592" sldId="2147483675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053923321" sldId="2147483676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482762289" sldId="2147483677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646666711" sldId="2147483678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918502508" sldId="2147483679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280310802" sldId="2147483680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407247332" sldId="2147483681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817448671" sldId="2147483682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284016226" sldId="2147483683"/>
          </pc:sldLayoutMkLst>
        </pc:sldLayoutChg>
      </pc:sldMasterChg>
      <pc:sldMasterChg chg="new mod addSldLayout">
        <pc:chgData name="Deepthi kondreddy" userId="87b990cbe0108a24" providerId="LiveId" clId="{D982A1B5-14D1-46D9-853A-632C19E73D80}" dt="2026-08-09T00:41:48.968" v="449" actId="6938"/>
        <pc:sldMasterMkLst>
          <pc:docMk/>
          <pc:sldMasterMk cId="4253675882" sldId="2147483684"/>
        </pc:sldMasterMkLst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2779904724" sldId="2147483685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4144981981" sldId="2147483686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962607967" sldId="2147483687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12830736" sldId="2147483688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267572677" sldId="2147483689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2361421955" sldId="2147483690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1250026" sldId="2147483691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800496476" sldId="2147483692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1807675903" sldId="2147483693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1745276468" sldId="2147483694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94311923" sldId="214748369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63AF11-D09B-990D-0869-DCA649B2C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633C4-CAB5-78E4-9BEB-0A8E9B1CE7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B12AB-ED90-4291-AA4F-D7DCCB20AC2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9648C-E715-3AA9-027E-892F92F28D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Deepthi kondreddy@Kennesaw State University,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E22D5-7B95-D69F-9321-BFDCD72A82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B0E71-E904-42DC-BD96-C3FFA99D8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73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FE639-99F6-4947-9CA2-AC80D81723F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Deepthi kondreddy@Kennesaw State University,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AC93C-692D-4F14-9F30-42108E547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654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CBD4-3883-40E8-AE33-7E41FA29209F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Deepthi </a:t>
            </a:r>
            <a:r>
              <a:rPr lang="en-US" dirty="0" err="1"/>
              <a:t>kondreddy@Kennesaw</a:t>
            </a:r>
            <a:r>
              <a:rPr lang="en-US" dirty="0"/>
              <a:t>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E7B08-B5B9-45CF-B614-AD9F1F2D4341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07B36-C453-4AE1-9C75-30EA90411999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BD466-12F6-4BD5-A9E3-BD19CBF827D4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C932-C33A-47D5-BDB2-8DF178650C01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0432-030C-416A-93E0-17580146D562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7839-FF0F-4964-9E03-617258A41761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A7D7-C1E0-4905-BC2D-34D64C509050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880-E352-49EC-8A05-AC6F5DDD281D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CC38-A6AD-4A8E-8BD3-FB5BACD35B34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214E-8751-4E08-A599-91588BB5863B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CBF4-068E-7E26-2AB8-306599B43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B2F9F-A93E-1750-D6B2-A0051EFDB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6E1BE-9AB6-C576-F316-CF071CA1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99D9-9D7B-4CAF-BE01-0DA0E8F9C4BC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B9CCB-2BBE-548E-9638-6D8D3634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1571-E94D-BF30-1E1C-028E5246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04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46E7-1157-D46E-8A76-2354CEA0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2CEF-401E-CE5E-53D5-51E5FC58C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FCA6C-77BE-744E-849D-BEC02573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DC60C-E613-4712-B3C5-59AB55101C0D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44E56-F520-10D7-9AB1-522232E4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2F48C-87DD-65D7-0645-9EDDA48E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8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B04-3D58-932D-29B0-4F8FDFF4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0E5B5-51C0-71F8-5AD9-F03957674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D83CB-D72B-3A10-186E-89A1F327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16EF-CE4F-4C77-A240-6EED97B8056C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33DE2-7D7A-09BB-D312-7E943416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3CE39-06E1-1AB9-5C09-F0763630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7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9203-4053-FDE1-03C5-93E3E379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A3A6-B579-93A2-9732-64214CDB2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37882-9A3B-57EE-2872-DF9DDE948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02841-7BA6-E808-1761-EA88B70D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11135-BBFE-4699-A82B-B8DA8D614B0D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5B2E8-7A7B-22C2-61DB-6B9ECBAC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95BD6-1541-2305-C75F-4F060C0F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30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2C9-27E0-BD04-3F5C-463F1ED5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B752B-D575-F847-F08B-F4E108B5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DA593-8FB4-FFC5-3D10-7E7E5E146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C136A-3A22-442F-9C98-E3B92B840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D29AF-FDD3-B82E-DA13-B34B602F5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36E74-0E09-A71F-BBD7-4A2F7669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CD50-0609-482B-BA2D-E978F59C9873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BA7CA-7504-A493-2B0B-B8EB1AAB3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DAEBF-EC20-DF0D-0BE1-D04BB9B9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7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7E14-5628-5DE5-F488-C3CDC308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94E63-1874-5B5A-FDED-C61AE2E3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8B59-0FC9-4038-9EC0-5A5368BFD838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3ABB5-7C9E-F936-29C1-16434882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E0316-BE2D-7BAE-8CA7-976D6853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21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18C8-D837-0753-FDB1-244A148B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9507C-F668-49F3-BCAF-565A5BF14987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3CCE9-C717-5254-445C-ECCB2414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934D8-2BC0-AC87-1F32-2512BFB5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0266-C168-A139-56B4-3AE09480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2AA8-5B61-6B9D-EB2D-20EC2DF2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64577-3A4F-AC0A-FEB3-328056CF7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266C2-61D3-0FED-149E-504125FE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77FA1-0FF6-4F8E-B8FC-66207BF7217B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89E3-CD32-2301-A115-63F3C2F3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27AD-0A5F-5AA9-EE32-D5690D7F0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9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8B4-47F9-711F-2860-B0E02480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2C3DF-2D44-99B3-1A8E-9BE4DA7D7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D75A9-8357-EA50-8CAB-2592258C6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51766-ACEA-EEE8-BF8C-18607DC8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F821-B5DE-49FD-8931-090A01CADEB0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B9E3-2577-3ADC-9DDB-9E6F1A21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5AAE8-2BC2-BA4A-EE5A-72C8FD88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75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1001-BBE0-221F-C7E1-B29BCEB7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2F8A6-B02B-338B-D16C-8DB055F6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A684-3C52-A31B-191F-E8AFFC1C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37729-6724-440A-98D3-E1D06FA375C1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C4A62-965F-C24D-3D32-7C2D2C9F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1939-DE18-3769-1926-63FEA141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6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AF6AF-B985-5CE9-9F36-E80F0407A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FBCAC-F87F-AD04-EA2A-CA32291C3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D4C79-1816-E6B7-367C-58F5F62C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4F4E-27E3-45BB-87B5-97ADB1A625A4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DC4B-819D-9AC9-FCE3-2DBED42A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A27B4-678F-EAB5-7A86-A6E381BA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D1E3-FB39-27E2-5069-B9D05D69D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D3378-324F-5E0B-489E-3E5FFCD2C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FC40-0F2C-15F7-C520-73459710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0F7A5-E918-46F3-8049-7FA538593B58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721AD-F651-14EF-57BE-89542F94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914C-86B1-F11D-1BC8-65A46213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04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0C60-DE74-BA2E-D4A7-8303A280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E4BD-6A67-3DA7-8CD8-6D37FD01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9FC50-5146-F291-6CC1-65D1E986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A25FA-11FB-471D-89B1-E8D93ADBA0E3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1CE1A-3350-73D3-5661-3E4439F6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CCC06-ABB9-5E92-CD3A-00482437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570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2A63-B37D-1ABC-461E-702CE0C5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728E6-5193-8B8E-7A42-520FE18A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07DF2-E606-159D-D1EB-63329EA6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903FD-73C2-4670-A1FE-B788A30EA057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ED69-082B-A8BA-7615-28DA6250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C85D-050D-E721-615A-C5E298E2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645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7AA-6CAE-F237-4005-6E5DC797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7B72D-5BBF-0455-6FCF-20EB6377F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71D0D-C4FE-30E8-5EFD-AB85090D6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7B45-780D-3A12-6EF2-4A495CBE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E42C-D340-4D80-B535-B49C3FC1C001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5F504-2B11-7EA8-E5F8-E2A31FAA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37775-0FD7-65A1-C005-A06F432A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23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9563-FDD0-5181-C683-BD19CC21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3F2FE-5B03-F842-A636-D9E281C6E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C768-DB94-4D63-AFDB-FD4D4FFE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4CE12-7744-8E2B-AFFD-6C40FF13A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A15D9-16DD-274D-0D37-96C396139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820194-F362-14E9-B748-BF5BA0F9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1F1D-1CF1-4BDC-9337-8972593BDC60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9C7EF-DEA3-FCB0-CBA3-3097446D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3A2F8-CA9C-44EC-C4A2-E5A02368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62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460F-F75A-392C-45D6-6D0E6164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A7CD9-E90B-9EF4-0149-77FDA764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659DD-5F67-4E69-9FFA-B9CD2036A448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5F4E9-7219-CE00-E37F-FDAF0E4D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392DE-8750-F88B-3EBF-7A2586A4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66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4306D-3D66-07F4-F824-659F127A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1E3D-376E-4173-8CE3-1ECBF5EA55E2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BD38A-9CA7-A430-D5C2-80BD4DCF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1FC80-E8B6-7520-2EAE-00F537B0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025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871E-5321-D7DE-4E8F-7D7422DD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2CA8-FA16-B7D4-E93A-486D03457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E6F99-343B-30CE-6285-57C651E07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300F7-B46D-8A18-F617-DB102257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7066-DA60-43A6-BD97-5B9369F727FC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E395E-8C6D-E5B0-0983-78D9BD7F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77410-4A92-165F-7FAD-2DCB5A6F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108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EE3C-4D4E-374B-0A0E-525A7A56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C710E-6A6B-D684-43E3-21C68499D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0F295-DE27-C860-52E5-2F75952B1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C4018-6637-3839-F4BB-EEEC1FFB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6E701-B209-4D91-AAC2-A74BE81C2721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71A14-5022-C752-0E16-1239A8EF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DE1B8-9CD7-5258-3641-E11D5BB5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47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B244-38B9-896E-E376-BED8C96E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93F32-D98F-861B-CBC0-CDC2A5E6B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8CF63-8908-0E67-1169-808C7F99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44B13-E2A2-412F-9150-6BF2EE1A67E2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70CD4-88EA-F5BE-F867-18BBFFFD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9EC0-E600-DD55-7A0A-B0BA49E5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48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05DCC-9F14-04E6-F6B7-1B3C2C773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94D9E-1869-5B6E-1296-B975F2765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3392-7B3E-C370-EE1E-C89AAEF7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E32F-68D8-47AE-A399-74AF34BAFEDC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A5B08-F9BC-44A6-9780-592F2209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E4147-5972-0982-1668-97775D72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Bar"/>
            <p:cNvSpPr/>
            <p:nvPr/>
          </p:nvSpPr>
          <p:spPr>
            <a:xfrm>
              <a:off x="0" y="0"/>
              <a:ext cx="107950" cy="6858000"/>
            </a:xfrm>
            <a:prstGeom prst="rect">
              <a:avLst/>
            </a:prstGeom>
            <a:gradFill>
              <a:gsLst>
                <a:gs pos="0">
                  <a:srgbClr val="6B2D8C"/>
                </a:gs>
                <a:gs pos="100000">
                  <a:srgbClr val="C94F7C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Hairline"/>
            <p:cNvSpPr/>
            <p:nvPr/>
          </p:nvSpPr>
          <p:spPr>
            <a:xfrm>
              <a:off x="107950" y="6743700"/>
              <a:ext cx="12084050" cy="12700"/>
            </a:xfrm>
            <a:prstGeom prst="rect">
              <a:avLst/>
            </a:prstGeom>
            <a:solidFill>
              <a:srgbClr val="EDE7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88993-D932-4A28-86F2-815AAAC7D2A8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D2C4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43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9BA60-76E1-18C4-A133-01320A3F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E1109-67A4-9A1D-A96E-57DC8391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0E3A-5AC3-6C24-D782-C81368328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342FA-ADA4-4442-8CD6-E48F601B9D53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35E0-C858-B828-C1C8-FB8686B47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17422-F289-054C-2D1C-FE3389589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7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44669-D85F-9C7E-0A93-7C9FD71F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ABF76-F2D4-ABF2-B7FE-CC85BA03A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CA30-7314-F15C-F5A5-F1A99BE24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54F7E-5DB3-46A1-92D9-B500863B19AE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7E060-CDB6-2FB8-48B3-355F4F865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E4A8-23BB-CACE-1CC3-E3823B630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9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8B60-FE47-C9C2-65D7-1B485DD5B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rgbClr val="3D2C47"/>
                </a:solidFill>
              </a:rPr>
              <a:t>Introduction to HIMLT &amp; Whole-Slide Image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B7850-3845-F9FE-5D2E-4DBE2B625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000"/>
            <a:ext cx="9144000" cy="8890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6B2D8C"/>
                </a:solidFill>
              </a:rPr>
              <a:t>Foundations for team members</a:t>
            </a:r>
          </a:p>
        </p:txBody>
      </p:sp>
      <p:sp>
        <p:nvSpPr>
          <p:cNvPr id="40" name="Rule"/>
          <p:cNvSpPr/>
          <p:nvPr/>
        </p:nvSpPr>
        <p:spPr>
          <a:xfrm>
            <a:off x="5486400" y="4648200"/>
            <a:ext cx="1219200" cy="50800"/>
          </a:xfrm>
          <a:prstGeom prst="rect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2337-E8BA-4538-993C-5F5C2B85BD34}"/>
              </a:ext>
            </a:extLst>
          </p:cNvPr>
          <p:cNvSpPr txBox="1"/>
          <p:nvPr/>
        </p:nvSpPr>
        <p:spPr>
          <a:xfrm>
            <a:off x="1524000" y="4978400"/>
            <a:ext cx="9144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7A8B99"/>
                </a:solidFill>
              </a:rPr>
              <a:t>Digital Pathology &amp; Bioinformatics Engineering</a:t>
            </a:r>
          </a:p>
        </p:txBody>
      </p:sp>
    </p:spTree>
    <p:extLst>
      <p:ext uri="{BB962C8B-B14F-4D97-AF65-F5344CB8AC3E}">
        <p14:creationId xmlns:p14="http://schemas.microsoft.com/office/powerpoint/2010/main" val="330254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247C34-1E88-491A-984F-9ED4F7C45EE1}"/>
              </a:ext>
            </a:extLst>
          </p:cNvPr>
          <p:cNvSpPr/>
          <p:nvPr/>
        </p:nvSpPr>
        <p:spPr>
          <a:xfrm>
            <a:off x="457200" y="5143500"/>
            <a:ext cx="11277600" cy="10922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C6A58-EAE7-128A-2D32-5C7A70EC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What is Histopathology?</a:t>
            </a:r>
          </a:p>
          <a:p>
            <a:pPr>
              <a:buNone/>
            </a:pPr>
            <a:r>
              <a:rPr lang="en-US" sz="1700" dirty="0">
                <a:solidFill>
                  <a:srgbClr val="6B2D8C"/>
                </a:solidFill>
              </a:rPr>
              <a:t>The microscopic study of tissue to diagnose disease — most commonly cancer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C95311-F7AD-4EE2-8BAB-048263D01E7A}"/>
              </a:ext>
            </a:extLst>
          </p:cNvPr>
          <p:cNvSpPr/>
          <p:nvPr/>
        </p:nvSpPr>
        <p:spPr>
          <a:xfrm>
            <a:off x="4572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Biopsy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Tissue sample collected from the patient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D3DD8E-EB1A-4496-BA1E-94DAD7C15811}"/>
              </a:ext>
            </a:extLst>
          </p:cNvPr>
          <p:cNvSpPr/>
          <p:nvPr/>
        </p:nvSpPr>
        <p:spPr>
          <a:xfrm>
            <a:off x="14922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0E4BFB-E524-423D-B470-38220EA95F08}"/>
              </a:ext>
            </a:extLst>
          </p:cNvPr>
          <p:cNvSpPr/>
          <p:nvPr/>
        </p:nvSpPr>
        <p:spPr>
          <a:xfrm>
            <a:off x="33401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Slide Preparation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Sample sectioned and mounted on glass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1F0788-64A9-42A8-8640-468A7DCC10A9}"/>
              </a:ext>
            </a:extLst>
          </p:cNvPr>
          <p:cNvSpPr/>
          <p:nvPr/>
        </p:nvSpPr>
        <p:spPr>
          <a:xfrm>
            <a:off x="43751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EFAF9E-FDD4-4917-BA35-7CFD85A0ED14}"/>
              </a:ext>
            </a:extLst>
          </p:cNvPr>
          <p:cNvSpPr/>
          <p:nvPr/>
        </p:nvSpPr>
        <p:spPr>
          <a:xfrm>
            <a:off x="62230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Staining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Chemical stains reveal cellular structure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8AD896-2A3E-48B9-8D64-4F0C624CF2FD}"/>
              </a:ext>
            </a:extLst>
          </p:cNvPr>
          <p:cNvSpPr/>
          <p:nvPr/>
        </p:nvSpPr>
        <p:spPr>
          <a:xfrm>
            <a:off x="72580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D9743F-5DA3-42E2-8C95-E30FC704F9CD}"/>
              </a:ext>
            </a:extLst>
          </p:cNvPr>
          <p:cNvSpPr/>
          <p:nvPr/>
        </p:nvSpPr>
        <p:spPr>
          <a:xfrm>
            <a:off x="91059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Examination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Pathologist reviews it under a microscope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719C53-3F0C-42FB-8AD2-1ED50D1A664D}"/>
              </a:ext>
            </a:extLst>
          </p:cNvPr>
          <p:cNvSpPr/>
          <p:nvPr/>
        </p:nvSpPr>
        <p:spPr>
          <a:xfrm>
            <a:off x="101409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463F9-6C08-480E-8110-2D66E2BBE841}"/>
              </a:ext>
            </a:extLst>
          </p:cNvPr>
          <p:cNvSpPr txBox="1"/>
          <p:nvPr/>
        </p:nvSpPr>
        <p:spPr>
          <a:xfrm>
            <a:off x="838200" y="533400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700" i="1" dirty="0">
                <a:solidFill>
                  <a:srgbClr val="3D2C47"/>
                </a:solidFill>
              </a:rPr>
              <a:t>Diagnosis relies heavily on visual pattern recognition — cell shape, tissue structure, and cellular density.</a:t>
            </a:r>
          </a:p>
        </p:txBody>
      </p:sp>
      <p:sp>
        <p:nvSpPr>
          <p:cNvPr id="60" name="Arrow0"/>
          <p:cNvSpPr/>
          <p:nvPr/>
        </p:nvSpPr>
        <p:spPr>
          <a:xfrm rot="5400000">
            <a:off x="30734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rrow1"/>
          <p:cNvSpPr/>
          <p:nvPr/>
        </p:nvSpPr>
        <p:spPr>
          <a:xfrm rot="5400000">
            <a:off x="59563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Arrow2"/>
          <p:cNvSpPr/>
          <p:nvPr/>
        </p:nvSpPr>
        <p:spPr>
          <a:xfrm rot="5400000">
            <a:off x="88392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C1755E3-FB68-D702-CD16-48E3CEB1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6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07D8-12C2-73C6-A115-BF8A84BC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From Glass Slide to Digital Image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525FDA-CD09-4E3A-8E0B-520E3FD34E1C}"/>
              </a:ext>
            </a:extLst>
          </p:cNvPr>
          <p:cNvSpPr/>
          <p:nvPr/>
        </p:nvSpPr>
        <p:spPr>
          <a:xfrm>
            <a:off x="457200" y="20701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Hardware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Digital pathology scanners (e.g., Aperio) convert physical glass slides into high-resolution digital images.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40BD3-A11C-4357-90F3-2504724903BE}"/>
              </a:ext>
            </a:extLst>
          </p:cNvPr>
          <p:cNvSpPr/>
          <p:nvPr/>
        </p:nvSpPr>
        <p:spPr>
          <a:xfrm>
            <a:off x="457200" y="2324100"/>
            <a:ext cx="63500" cy="13970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A500B0-6BB9-444A-82AB-9DF751E0E199}"/>
              </a:ext>
            </a:extLst>
          </p:cNvPr>
          <p:cNvSpPr/>
          <p:nvPr/>
        </p:nvSpPr>
        <p:spPr>
          <a:xfrm>
            <a:off x="6273800" y="20701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Format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Commonly stored as SVS files — a specialized variant of the TIFF format.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44193-33E4-4AA0-BB19-E3B87CAB9FF7}"/>
              </a:ext>
            </a:extLst>
          </p:cNvPr>
          <p:cNvSpPr/>
          <p:nvPr/>
        </p:nvSpPr>
        <p:spPr>
          <a:xfrm>
            <a:off x="6273800" y="2324100"/>
            <a:ext cx="63500" cy="13970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98313D-126C-436F-8C68-13E6D461F1C7}"/>
              </a:ext>
            </a:extLst>
          </p:cNvPr>
          <p:cNvSpPr/>
          <p:nvPr/>
        </p:nvSpPr>
        <p:spPr>
          <a:xfrm>
            <a:off x="457200" y="42037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Result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Whole-Slide Images (WSIs): a complete digital rendering of the entire specimen.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9782D-F821-4E89-85F2-26047CC6838D}"/>
              </a:ext>
            </a:extLst>
          </p:cNvPr>
          <p:cNvSpPr/>
          <p:nvPr/>
        </p:nvSpPr>
        <p:spPr>
          <a:xfrm>
            <a:off x="457200" y="4457700"/>
            <a:ext cx="63500" cy="13970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BD5B0A-74DC-4260-B1E1-C414BCFCB397}"/>
              </a:ext>
            </a:extLst>
          </p:cNvPr>
          <p:cNvSpPr/>
          <p:nvPr/>
        </p:nvSpPr>
        <p:spPr>
          <a:xfrm>
            <a:off x="6273800" y="42037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Challenge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A single WSI is gigapixel-scale — tens of thousands of pixels per side, far larger than a normal photo.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B61206-ABEA-432E-98F2-FA9639AF55FC}"/>
              </a:ext>
            </a:extLst>
          </p:cNvPr>
          <p:cNvSpPr/>
          <p:nvPr/>
        </p:nvSpPr>
        <p:spPr>
          <a:xfrm>
            <a:off x="6273800" y="4457700"/>
            <a:ext cx="63500" cy="13970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4AFCCA9-97F4-B04F-0D13-4A6CFF86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3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5A60-8FFD-5DED-4A51-C9FB77F5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Why WSIs Can't Be Loaded Like Normal Images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94AAC-1929-45CE-8C32-6598C294668C}"/>
              </a:ext>
            </a:extLst>
          </p:cNvPr>
          <p:cNvSpPr/>
          <p:nvPr/>
        </p:nvSpPr>
        <p:spPr>
          <a:xfrm>
            <a:off x="45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Problem</a:t>
            </a:r>
            <a:r>
              <a:rPr lang="en-US" sz="1700">
                <a:solidFill>
                  <a:srgbClr val="1F2430"/>
                </a:solidFill>
              </a:rPr>
              <a:t>
Loading a full gigapixel image into memory at once crashes standard computing systems.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4F650-D1ED-4286-AB5D-68F5E0305246}"/>
              </a:ext>
            </a:extLst>
          </p:cNvPr>
          <p:cNvSpPr/>
          <p:nvPr/>
        </p:nvSpPr>
        <p:spPr>
          <a:xfrm>
            <a:off x="73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5A6D1D-2CE0-42CA-937C-894F37E42331}"/>
              </a:ext>
            </a:extLst>
          </p:cNvPr>
          <p:cNvSpPr/>
          <p:nvPr/>
        </p:nvSpPr>
        <p:spPr>
          <a:xfrm>
            <a:off x="426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Structure</a:t>
            </a:r>
            <a:r>
              <a:rPr lang="en-US" sz="1700">
                <a:solidFill>
                  <a:srgbClr val="1F2430"/>
                </a:solidFill>
              </a:rPr>
              <a:t>
The same image is stored at multiple resolutions (zoom levels), operating like a Google Maps tile 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93269-B68E-44D8-856F-32F61D70EEDD}"/>
              </a:ext>
            </a:extLst>
          </p:cNvPr>
          <p:cNvSpPr/>
          <p:nvPr/>
        </p:nvSpPr>
        <p:spPr>
          <a:xfrm>
            <a:off x="454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1C5C7D-2D81-4F82-8F4F-9F2670D4F99A}"/>
              </a:ext>
            </a:extLst>
          </p:cNvPr>
          <p:cNvSpPr/>
          <p:nvPr/>
        </p:nvSpPr>
        <p:spPr>
          <a:xfrm>
            <a:off x="807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Delivery</a:t>
            </a:r>
            <a:r>
              <a:rPr lang="en-US" sz="1700">
                <a:solidFill>
                  <a:srgbClr val="1F2430"/>
                </a:solidFill>
              </a:rPr>
              <a:t>
An IIP (Internet Imaging Protocol) server dynamically delivers only the tiles required for the user's current 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9ACFB-ABDA-4550-962C-BA49EBF8A598}"/>
              </a:ext>
            </a:extLst>
          </p:cNvPr>
          <p:cNvSpPr/>
          <p:nvPr/>
        </p:nvSpPr>
        <p:spPr>
          <a:xfrm>
            <a:off x="835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71CECF-DE5F-4E2A-9BD9-F4DFF3710206}"/>
              </a:ext>
            </a:extLst>
          </p:cNvPr>
          <p:cNvSpPr/>
          <p:nvPr/>
        </p:nvSpPr>
        <p:spPr>
          <a:xfrm>
            <a:off x="457200" y="5334000"/>
            <a:ext cx="11226800" cy="9144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i="1">
                <a:solidFill>
                  <a:srgbClr val="3D2C47"/>
                </a:solidFill>
              </a:rPr>
              <a:t>Result: the viewer streams only what is on screen, so a gigapixel slide pans and zooms as smoothly as a web map.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14E88F-8CC4-28DD-BFEA-391DE8DA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5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35CC-E758-64CB-40E7-4E194AC1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What is HIMLT?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C89CAD-AA1A-49A4-8402-333B5855A33F}"/>
              </a:ext>
            </a:extLst>
          </p:cNvPr>
          <p:cNvSpPr/>
          <p:nvPr/>
        </p:nvSpPr>
        <p:spPr>
          <a:xfrm>
            <a:off x="457200" y="2070100"/>
            <a:ext cx="3556000" cy="41783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Hybrid
Interactive
Machine
Learning
Tool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EA7F24-9EBC-4F64-9E61-E4EE023F035B}"/>
              </a:ext>
            </a:extLst>
          </p:cNvPr>
          <p:cNvSpPr/>
          <p:nvPr/>
        </p:nvSpPr>
        <p:spPr>
          <a:xfrm>
            <a:off x="4318000" y="2070100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Lineage</a:t>
            </a:r>
            <a:r>
              <a:rPr lang="en-US" sz="1600">
                <a:solidFill>
                  <a:srgbClr val="1F2430"/>
                </a:solidFill>
              </a:rPr>
              <a:t>
A modernized, web-based evolution of HistomicsML2.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798417-CC4E-4E6C-9551-E16FC8046167}"/>
              </a:ext>
            </a:extLst>
          </p:cNvPr>
          <p:cNvSpPr/>
          <p:nvPr/>
        </p:nvSpPr>
        <p:spPr>
          <a:xfrm>
            <a:off x="4318000" y="3505200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Core Purpose</a:t>
            </a:r>
            <a:r>
              <a:rPr lang="en-US" sz="1600">
                <a:solidFill>
                  <a:srgbClr val="1F2430"/>
                </a:solidFill>
              </a:rPr>
              <a:t>
Empowers pathologists to train nuclei classifiers — for example, distinguishing tumor cells from normal cells — interactively.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DE5BB9-40DA-489D-B799-3E861C0CC289}"/>
              </a:ext>
            </a:extLst>
          </p:cNvPr>
          <p:cNvSpPr/>
          <p:nvPr/>
        </p:nvSpPr>
        <p:spPr>
          <a:xfrm>
            <a:off x="4318000" y="4940300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Value Proposition</a:t>
            </a:r>
            <a:r>
              <a:rPr lang="en-US" sz="1600">
                <a:solidFill>
                  <a:srgbClr val="1F2430"/>
                </a:solidFill>
              </a:rPr>
              <a:t>
Eliminates the need for pathologists to write code or manually label entire gigapixel slides before training begins.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C24834-E18D-0612-3296-ECE1C63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5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4EDF-814C-D955-6029-576FE7B9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Lineage: HIMLT Extends HistomicsML2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824330-F6BE-4127-BE5D-801B96B8A228}"/>
              </a:ext>
            </a:extLst>
          </p:cNvPr>
          <p:cNvSpPr/>
          <p:nvPr/>
        </p:nvSpPr>
        <p:spPr>
          <a:xfrm>
            <a:off x="8382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7A8B99"/>
                </a:solidFill>
              </a:rPr>
              <a:t>HistomicsML</a:t>
            </a:r>
            <a:r>
              <a:rPr lang="en-US" sz="1500">
                <a:solidFill>
                  <a:srgbClr val="1F2430"/>
                </a:solidFill>
              </a:rPr>
              <a:t>
Interactive machine learning for digital pathology. Active learning directs user feedback across datasets with 100M+ histologic objects.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20AA30-96B4-4AA0-8AE5-A1D6CD22535E}"/>
              </a:ext>
            </a:extLst>
          </p:cNvPr>
          <p:cNvSpPr/>
          <p:nvPr/>
        </p:nvSpPr>
        <p:spPr>
          <a:xfrm>
            <a:off x="838200" y="2108200"/>
            <a:ext cx="1397000" cy="406400"/>
          </a:xfrm>
          <a:prstGeom prst="roundRect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2017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D650BCD-337E-446E-A685-C02A15F7905E}"/>
              </a:ext>
            </a:extLst>
          </p:cNvPr>
          <p:cNvSpPr/>
          <p:nvPr/>
        </p:nvSpPr>
        <p:spPr>
          <a:xfrm>
            <a:off x="4394200" y="3644900"/>
            <a:ext cx="177800" cy="2032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8F79F-12D5-4A52-9620-20977EF239CA}"/>
              </a:ext>
            </a:extLst>
          </p:cNvPr>
          <p:cNvSpPr/>
          <p:nvPr/>
        </p:nvSpPr>
        <p:spPr>
          <a:xfrm>
            <a:off x="45466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C94F7C"/>
                </a:solidFill>
              </a:rPr>
              <a:t>HistomicsML2.0</a:t>
            </a:r>
            <a:r>
              <a:rPr lang="en-US" sz="1500">
                <a:solidFill>
                  <a:srgbClr val="1F2430"/>
                </a:solidFill>
              </a:rPr>
              <a:t>
Adds convolutional-network features, a browser-based interface, and Docker containers for simple deployment.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09F44D-DB68-4FA6-A925-6E76562EF024}"/>
              </a:ext>
            </a:extLst>
          </p:cNvPr>
          <p:cNvSpPr/>
          <p:nvPr/>
        </p:nvSpPr>
        <p:spPr>
          <a:xfrm>
            <a:off x="4546600" y="2108200"/>
            <a:ext cx="1397000" cy="406400"/>
          </a:xfrm>
          <a:prstGeom prst="round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2020-21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BB41906-3206-493F-92EF-FE025337BA7F}"/>
              </a:ext>
            </a:extLst>
          </p:cNvPr>
          <p:cNvSpPr/>
          <p:nvPr/>
        </p:nvSpPr>
        <p:spPr>
          <a:xfrm>
            <a:off x="8102600" y="3644900"/>
            <a:ext cx="177800" cy="2032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E04717-4B0C-4EC9-992F-F66DCA0A7D9A}"/>
              </a:ext>
            </a:extLst>
          </p:cNvPr>
          <p:cNvSpPr/>
          <p:nvPr/>
        </p:nvSpPr>
        <p:spPr>
          <a:xfrm>
            <a:off x="82550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HIMLT</a:t>
            </a:r>
            <a:r>
              <a:rPr lang="en-US" sz="1500">
                <a:solidFill>
                  <a:srgbClr val="1F2430"/>
                </a:solidFill>
              </a:rPr>
              <a:t>
A modernized, web-based evolution: React/Flask/Redis stack, fused hand-crafted and VGG-16 features, Random Forest for real-time retraining.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4B84F0-8D3C-4048-8790-5F6FFD6DAC59}"/>
              </a:ext>
            </a:extLst>
          </p:cNvPr>
          <p:cNvSpPr/>
          <p:nvPr/>
        </p:nvSpPr>
        <p:spPr>
          <a:xfrm>
            <a:off x="8255000" y="2108200"/>
            <a:ext cx="1397000" cy="4064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ED41EA-8BA5-4EE7-A4B9-A6191F50418F}"/>
              </a:ext>
            </a:extLst>
          </p:cNvPr>
          <p:cNvSpPr/>
          <p:nvPr/>
        </p:nvSpPr>
        <p:spPr>
          <a:xfrm>
            <a:off x="838200" y="5257800"/>
            <a:ext cx="10896600" cy="7874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D2C47"/>
                </a:solidFill>
              </a:rPr>
              <a:t>Same core idea — active learning with a human in the loop — rebuilt on a modern web stack.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F504233-3D19-CA93-2ED7-6FBA9F6B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0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92CE-061D-9288-1B50-887E09ED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The Core Idea: Active Learning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F61578-A606-4970-8EC1-B7CADCE35887}"/>
              </a:ext>
            </a:extLst>
          </p:cNvPr>
          <p:cNvSpPr/>
          <p:nvPr/>
        </p:nvSpPr>
        <p:spPr>
          <a:xfrm>
            <a:off x="8382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Label</a:t>
            </a:r>
            <a:r>
              <a:rPr lang="en-US" sz="1500">
                <a:solidFill>
                  <a:srgbClr val="1F2430"/>
                </a:solidFill>
              </a:rPr>
              <a:t>
The pathologist labels a small, initial sample of cells.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E7C06C-C90A-44A4-A476-81FD58E3E71E}"/>
              </a:ext>
            </a:extLst>
          </p:cNvPr>
          <p:cNvSpPr/>
          <p:nvPr/>
        </p:nvSpPr>
        <p:spPr>
          <a:xfrm>
            <a:off x="18288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9AB01E-D000-4C0A-A3E4-5CECCDCAC345}"/>
              </a:ext>
            </a:extLst>
          </p:cNvPr>
          <p:cNvSpPr/>
          <p:nvPr/>
        </p:nvSpPr>
        <p:spPr>
          <a:xfrm>
            <a:off x="33655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CA788D-6629-43B7-9380-160DCAE6EAF9}"/>
              </a:ext>
            </a:extLst>
          </p:cNvPr>
          <p:cNvSpPr/>
          <p:nvPr/>
        </p:nvSpPr>
        <p:spPr>
          <a:xfrm>
            <a:off x="34798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Train</a:t>
            </a:r>
            <a:r>
              <a:rPr lang="en-US" sz="1500">
                <a:solidFill>
                  <a:srgbClr val="1F2430"/>
                </a:solidFill>
              </a:rPr>
              <a:t>
The model trains on that sample in under a second.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FD2971-3909-4E1A-9CE5-AC079BCCC92B}"/>
              </a:ext>
            </a:extLst>
          </p:cNvPr>
          <p:cNvSpPr/>
          <p:nvPr/>
        </p:nvSpPr>
        <p:spPr>
          <a:xfrm>
            <a:off x="44704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C0B23AD-CE53-4F9A-9EE1-9CD78476453D}"/>
              </a:ext>
            </a:extLst>
          </p:cNvPr>
          <p:cNvSpPr/>
          <p:nvPr/>
        </p:nvSpPr>
        <p:spPr>
          <a:xfrm>
            <a:off x="60071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FC3929-97A0-4FE1-8F56-97E759B2CF54}"/>
              </a:ext>
            </a:extLst>
          </p:cNvPr>
          <p:cNvSpPr/>
          <p:nvPr/>
        </p:nvSpPr>
        <p:spPr>
          <a:xfrm>
            <a:off x="61214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Predict</a:t>
            </a:r>
            <a:r>
              <a:rPr lang="en-US" sz="1500">
                <a:solidFill>
                  <a:srgbClr val="1F2430"/>
                </a:solidFill>
              </a:rPr>
              <a:t>
The model predicts classifications across the rest of the image.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F4D53B-7E51-4337-979E-7C8198ADE78F}"/>
              </a:ext>
            </a:extLst>
          </p:cNvPr>
          <p:cNvSpPr/>
          <p:nvPr/>
        </p:nvSpPr>
        <p:spPr>
          <a:xfrm>
            <a:off x="71120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F7C5387-7ACC-46EC-B791-1076E9B3C090}"/>
              </a:ext>
            </a:extLst>
          </p:cNvPr>
          <p:cNvSpPr/>
          <p:nvPr/>
        </p:nvSpPr>
        <p:spPr>
          <a:xfrm>
            <a:off x="86487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1C636-E42A-4A8D-8914-F8B77F4A5E8F}"/>
              </a:ext>
            </a:extLst>
          </p:cNvPr>
          <p:cNvSpPr/>
          <p:nvPr/>
        </p:nvSpPr>
        <p:spPr>
          <a:xfrm>
            <a:off x="87630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Review and Correct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500" dirty="0">
                <a:solidFill>
                  <a:srgbClr val="1F2430"/>
                </a:solidFill>
              </a:rPr>
              <a:t>The pathologist corrects only the cases the model is unsure about.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5D9764-0FDD-4C1B-B36F-965CF0770A1F}"/>
              </a:ext>
            </a:extLst>
          </p:cNvPr>
          <p:cNvSpPr/>
          <p:nvPr/>
        </p:nvSpPr>
        <p:spPr>
          <a:xfrm>
            <a:off x="97536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6252EA-28BE-4273-BBEA-8B27F1F9C21D}"/>
              </a:ext>
            </a:extLst>
          </p:cNvPr>
          <p:cNvSpPr/>
          <p:nvPr/>
        </p:nvSpPr>
        <p:spPr>
          <a:xfrm>
            <a:off x="838200" y="5257800"/>
            <a:ext cx="10896600" cy="9906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Instead of manually labeling thousands of cells upfront, accuracy improves continuously with minimal manual effort in each round.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3F66E712-E415-4D8B-898A-41442F6ECFB0}"/>
              </a:ext>
            </a:extLst>
          </p:cNvPr>
          <p:cNvSpPr/>
          <p:nvPr/>
        </p:nvSpPr>
        <p:spPr>
          <a:xfrm>
            <a:off x="838200" y="4622800"/>
            <a:ext cx="10896600" cy="457200"/>
          </a:xfrm>
          <a:prstGeom prst="leftArrow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D2C47"/>
                </a:solidFill>
              </a:rPr>
              <a:t>Corrections feed straight back into the next training round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D3B5DA-81A5-9F27-34C6-525CF9FF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3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E33E-D8EB-3FEE-2206-DD77511A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Under the Hood: Feature Extraction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0753F3-2765-4034-B31F-B1C4EF5D5C30}"/>
              </a:ext>
            </a:extLst>
          </p:cNvPr>
          <p:cNvSpPr/>
          <p:nvPr/>
        </p:nvSpPr>
        <p:spPr>
          <a:xfrm>
            <a:off x="838200" y="2819400"/>
            <a:ext cx="3556000" cy="2095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6B2D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Hand-Crafted Features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64-dimensional vector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Shape, size and texture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Explicitly engineered by humans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B77CE6-B04B-4CA8-AAA1-B38040F1F6E5}"/>
              </a:ext>
            </a:extLst>
          </p:cNvPr>
          <p:cNvSpPr/>
          <p:nvPr/>
        </p:nvSpPr>
        <p:spPr>
          <a:xfrm>
            <a:off x="4775200" y="2819400"/>
            <a:ext cx="3556000" cy="2095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C94F7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94F7C"/>
                </a:solidFill>
              </a:rPr>
              <a:t>Deep Learning Features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Learned by a CNN (VGG-16)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High-dimensional embeddings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Abstract learned patterns</a:t>
            </a: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3030C58-5C44-4E3C-803F-23D8C3AA9C0C}"/>
              </a:ext>
            </a:extLst>
          </p:cNvPr>
          <p:cNvSpPr/>
          <p:nvPr/>
        </p:nvSpPr>
        <p:spPr>
          <a:xfrm>
            <a:off x="4419600" y="3695700"/>
            <a:ext cx="330200" cy="330200"/>
          </a:xfrm>
          <a:prstGeom prst="plus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9C0FA24-07ED-4EED-8870-40223BB1FEB7}"/>
              </a:ext>
            </a:extLst>
          </p:cNvPr>
          <p:cNvSpPr/>
          <p:nvPr/>
        </p:nvSpPr>
        <p:spPr>
          <a:xfrm>
            <a:off x="8356600" y="3721100"/>
            <a:ext cx="304800" cy="279400"/>
          </a:xfrm>
          <a:prstGeom prst="rightArrow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A91405-C6E4-4E99-A43A-C562A0591256}"/>
              </a:ext>
            </a:extLst>
          </p:cNvPr>
          <p:cNvSpPr/>
          <p:nvPr/>
        </p:nvSpPr>
        <p:spPr>
          <a:xfrm>
            <a:off x="8712200" y="2819400"/>
            <a:ext cx="3022600" cy="20955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</a:rPr>
              <a:t>Fused Features</a:t>
            </a:r>
          </a:p>
          <a:p>
            <a:pPr>
              <a:buNone/>
            </a:pPr>
            <a:r>
              <a:rPr lang="en-US" sz="1500" dirty="0">
                <a:solidFill>
                  <a:srgbClr val="FFFFFF"/>
                </a:solidFill>
              </a:rPr>
              <a:t>Both sets are combined into one profile per nucleus before classification.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405D5-B15F-413E-90B6-7BF32FF69907}"/>
              </a:ext>
            </a:extLst>
          </p:cNvPr>
          <p:cNvSpPr txBox="1"/>
          <p:nvPr/>
        </p:nvSpPr>
        <p:spPr>
          <a:xfrm>
            <a:off x="838200" y="5143500"/>
            <a:ext cx="10896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i="1">
                <a:solidFill>
                  <a:srgbClr val="3D2C47"/>
                </a:solidFill>
              </a:rPr>
              <a:t>The two feature sets are mathematically fused so the classifier sees both human-defined structure and machine-learned abstraction.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7A105B-BB8A-4B98-94D9-A45B98485A77}"/>
              </a:ext>
            </a:extLst>
          </p:cNvPr>
          <p:cNvSpPr/>
          <p:nvPr/>
        </p:nvSpPr>
        <p:spPr>
          <a:xfrm>
            <a:off x="838200" y="1905000"/>
            <a:ext cx="10896600" cy="7366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3D2C47"/>
                </a:solidFill>
              </a:rPr>
              <a:t>Pre-segmentation:</a:t>
            </a:r>
            <a:r>
              <a:rPr lang="en-US" sz="1700">
                <a:solidFill>
                  <a:srgbClr val="3D2C47"/>
                </a:solidFill>
              </a:rPr>
              <a:t> each cell nucleus is identified and outlined in the WSI before any features are extracted.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1A495-65F0-24CD-0C7C-2011BC64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5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5CDD-BB0D-131D-7D74-B169E52B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The Classifier: Random Forest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9E98E0-4C2B-44DE-A4DF-01B19D61ECD4}"/>
              </a:ext>
            </a:extLst>
          </p:cNvPr>
          <p:cNvSpPr/>
          <p:nvPr/>
        </p:nvSpPr>
        <p:spPr>
          <a:xfrm>
            <a:off x="8382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The Classifier</a:t>
            </a:r>
            <a:r>
              <a:rPr lang="en-US" sz="1600">
                <a:solidFill>
                  <a:srgbClr val="1F2430"/>
                </a:solidFill>
              </a:rPr>
              <a:t>
A Random Forest model is trained on the fused feature sets for every labeled nucleus.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9BF479-3A51-43B7-841E-F6FBE7BF6188}"/>
              </a:ext>
            </a:extLst>
          </p:cNvPr>
          <p:cNvSpPr/>
          <p:nvPr/>
        </p:nvSpPr>
        <p:spPr>
          <a:xfrm>
            <a:off x="838200" y="3683000"/>
            <a:ext cx="3327400" cy="762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791CD2-031E-4748-BE5A-3A259FFF0838}"/>
              </a:ext>
            </a:extLst>
          </p:cNvPr>
          <p:cNvSpPr/>
          <p:nvPr/>
        </p:nvSpPr>
        <p:spPr>
          <a:xfrm>
            <a:off x="44958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The Tradeoff</a:t>
            </a:r>
            <a:r>
              <a:rPr lang="en-US" sz="1600">
                <a:solidFill>
                  <a:srgbClr val="1F2430"/>
                </a:solidFill>
              </a:rPr>
              <a:t>
Chosen specifically for speed — it trains in under a second, even mid-session.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1BE57-E2D6-4674-80EE-96E2D226CCF4}"/>
              </a:ext>
            </a:extLst>
          </p:cNvPr>
          <p:cNvSpPr/>
          <p:nvPr/>
        </p:nvSpPr>
        <p:spPr>
          <a:xfrm>
            <a:off x="4495800" y="3683000"/>
            <a:ext cx="33274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4D7094-813E-44E6-ADAC-6A0AFEF09A41}"/>
              </a:ext>
            </a:extLst>
          </p:cNvPr>
          <p:cNvSpPr/>
          <p:nvPr/>
        </p:nvSpPr>
        <p:spPr>
          <a:xfrm>
            <a:off x="81534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2A9D8F"/>
                </a:solidFill>
              </a:rPr>
              <a:t>The Justification</a:t>
            </a:r>
            <a:r>
              <a:rPr lang="en-US" sz="1600">
                <a:solidFill>
                  <a:srgbClr val="1F2430"/>
                </a:solidFill>
              </a:rPr>
              <a:t>
Deep learning has a higher accuracy ceiling but is far too slow to retrain on the fly.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B50F5-714A-42DD-8BF1-B853F378E32F}"/>
              </a:ext>
            </a:extLst>
          </p:cNvPr>
          <p:cNvSpPr/>
          <p:nvPr/>
        </p:nvSpPr>
        <p:spPr>
          <a:xfrm>
            <a:off x="8153400" y="3683000"/>
            <a:ext cx="3327400" cy="76200"/>
          </a:xfrm>
          <a:prstGeom prst="rect">
            <a:avLst/>
          </a:prstGeom>
          <a:solidFill>
            <a:srgbClr val="2A9D8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0373F-35D5-4D56-950A-EBE3A59895D9}"/>
              </a:ext>
            </a:extLst>
          </p:cNvPr>
          <p:cNvSpPr/>
          <p:nvPr/>
        </p:nvSpPr>
        <p:spPr>
          <a:xfrm>
            <a:off x="838200" y="2032000"/>
            <a:ext cx="10896600" cy="13970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900">
                <a:solidFill>
                  <a:srgbClr val="FFFFFF"/>
                </a:solidFill>
              </a:rPr>
              <a:t>Random Forest is lightweight enough to retrain repeatedly without introducing latency, preserving a frictionless interactive loop for the pathologist.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9FEE17-C698-0DF6-9E8F-60A4D08A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7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24EB-2775-B09A-B6FE-3CC162DB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System Architecture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0A0129-06DA-4BCB-8B0E-1FBA2DC4E281}"/>
              </a:ext>
            </a:extLst>
          </p:cNvPr>
          <p:cNvSpPr/>
          <p:nvPr/>
        </p:nvSpPr>
        <p:spPr>
          <a:xfrm>
            <a:off x="8382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Frontend</a:t>
            </a:r>
            <a:r>
              <a:rPr lang="en-US" sz="1500">
                <a:solidFill>
                  <a:srgbClr val="1F2430"/>
                </a:solidFill>
              </a:rPr>
              <a:t>
React web interface for viewing and labeling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B81734B-47E0-45DC-965B-B828BE89D523}"/>
              </a:ext>
            </a:extLst>
          </p:cNvPr>
          <p:cNvSpPr/>
          <p:nvPr/>
        </p:nvSpPr>
        <p:spPr>
          <a:xfrm>
            <a:off x="28321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403D04-D953-4622-AD39-C2AB162B1084}"/>
              </a:ext>
            </a:extLst>
          </p:cNvPr>
          <p:cNvSpPr/>
          <p:nvPr/>
        </p:nvSpPr>
        <p:spPr>
          <a:xfrm>
            <a:off x="30734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Backend</a:t>
            </a:r>
            <a:r>
              <a:rPr lang="en-US" sz="1500">
                <a:solidFill>
                  <a:srgbClr val="1F2430"/>
                </a:solidFill>
              </a:rPr>
              <a:t>
Flask API orchestrating requests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7A6B4D6-74C8-46A1-AAA5-1B84195BB093}"/>
              </a:ext>
            </a:extLst>
          </p:cNvPr>
          <p:cNvSpPr/>
          <p:nvPr/>
        </p:nvSpPr>
        <p:spPr>
          <a:xfrm>
            <a:off x="50673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3E018A-8675-43C1-92A9-991F0C6B4AA7}"/>
              </a:ext>
            </a:extLst>
          </p:cNvPr>
          <p:cNvSpPr/>
          <p:nvPr/>
        </p:nvSpPr>
        <p:spPr>
          <a:xfrm>
            <a:off x="53086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Job Queue</a:t>
            </a:r>
            <a:r>
              <a:rPr lang="en-US" sz="1500">
                <a:solidFill>
                  <a:srgbClr val="1F2430"/>
                </a:solidFill>
              </a:rPr>
              <a:t>
Redis manages background processing and ML tasks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BCAF911-570E-4E5D-994E-06FD7EC7DC4F}"/>
              </a:ext>
            </a:extLst>
          </p:cNvPr>
          <p:cNvSpPr/>
          <p:nvPr/>
        </p:nvSpPr>
        <p:spPr>
          <a:xfrm>
            <a:off x="73025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AE2302-C8C4-4199-9969-70DEDDC5E927}"/>
              </a:ext>
            </a:extLst>
          </p:cNvPr>
          <p:cNvSpPr/>
          <p:nvPr/>
        </p:nvSpPr>
        <p:spPr>
          <a:xfrm>
            <a:off x="75438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Data Storage</a:t>
            </a:r>
            <a:r>
              <a:rPr lang="en-US" sz="1500">
                <a:solidFill>
                  <a:srgbClr val="1F2430"/>
                </a:solidFill>
              </a:rPr>
              <a:t>
MySQL for coordinates and metadata; HDF5 for feature vectors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BC6908-8E27-4362-AD50-CF40EEC3BF6C}"/>
              </a:ext>
            </a:extLst>
          </p:cNvPr>
          <p:cNvSpPr/>
          <p:nvPr/>
        </p:nvSpPr>
        <p:spPr>
          <a:xfrm>
            <a:off x="95377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D9A594-7B71-4529-BE1D-FF0A744BF673}"/>
              </a:ext>
            </a:extLst>
          </p:cNvPr>
          <p:cNvSpPr/>
          <p:nvPr/>
        </p:nvSpPr>
        <p:spPr>
          <a:xfrm>
            <a:off x="97790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IIP Server</a:t>
            </a:r>
            <a:r>
              <a:rPr lang="en-US" sz="1500">
                <a:solidFill>
                  <a:srgbClr val="1F2430"/>
                </a:solidFill>
              </a:rPr>
              <a:t>
Streams gigapixel image tiles on demand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BB59CA-AA11-402C-83EA-098AB45C2F6C}"/>
              </a:ext>
            </a:extLst>
          </p:cNvPr>
          <p:cNvSpPr/>
          <p:nvPr/>
        </p:nvSpPr>
        <p:spPr>
          <a:xfrm>
            <a:off x="838200" y="2032000"/>
            <a:ext cx="10896600" cy="4572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3D2C47"/>
                </a:solidFill>
              </a:rPr>
              <a:t>Pathologist input enters at the frontend and flows through the 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D7ED8-4EA1-46A6-90D3-D910716DE98B}"/>
              </a:ext>
            </a:extLst>
          </p:cNvPr>
          <p:cNvSpPr txBox="1"/>
          <p:nvPr/>
        </p:nvSpPr>
        <p:spPr>
          <a:xfrm>
            <a:off x="838200" y="5334000"/>
            <a:ext cx="10896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D2C47"/>
                </a:solidFill>
              </a:rPr>
              <a:t>Coordinates and metadata live in MySQL; the numeric feature vectors that drive classification live in HDF5.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12294D6-D47B-4AFF-3779-C0D224CF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56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4A69-33FE-1F94-348D-433CFACC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Why This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76D42E-B2B3-476F-BBA6-004AC30EF037}"/>
              </a:ext>
            </a:extLst>
          </p:cNvPr>
          <p:cNvSpPr/>
          <p:nvPr/>
        </p:nvSpPr>
        <p:spPr>
          <a:xfrm>
            <a:off x="8382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Development Speed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Speeds up building AI-assisted diagnostic tools without a data science team hand-labeling massive datasets.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4B6D51-3AAC-42D7-9B75-B55B21591271}"/>
              </a:ext>
            </a:extLst>
          </p:cNvPr>
          <p:cNvSpPr/>
          <p:nvPr/>
        </p:nvSpPr>
        <p:spPr>
          <a:xfrm>
            <a:off x="11430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9520B2-C9EB-4C7C-BDBA-4B35200A85A1}"/>
              </a:ext>
            </a:extLst>
          </p:cNvPr>
          <p:cNvSpPr/>
          <p:nvPr/>
        </p:nvSpPr>
        <p:spPr>
          <a:xfrm>
            <a:off x="45466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Clinical Control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Keeps the pathologist in control - the model adapts to their judgment.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D1110D-F6BE-4C60-B4A6-417A9D99E8C3}"/>
              </a:ext>
            </a:extLst>
          </p:cNvPr>
          <p:cNvSpPr/>
          <p:nvPr/>
        </p:nvSpPr>
        <p:spPr>
          <a:xfrm>
            <a:off x="48514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86BF76-BD1C-4F40-B2A2-CD9703EF207E}"/>
              </a:ext>
            </a:extLst>
          </p:cNvPr>
          <p:cNvSpPr/>
          <p:nvPr/>
        </p:nvSpPr>
        <p:spPr>
          <a:xfrm>
            <a:off x="82550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Future Horizons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A foundation for broader research: correlating tissue patterns with clinical and genomic outcomes.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B4A077-55AD-4DB6-B239-67F4E8FE4664}"/>
              </a:ext>
            </a:extLst>
          </p:cNvPr>
          <p:cNvSpPr/>
          <p:nvPr/>
        </p:nvSpPr>
        <p:spPr>
          <a:xfrm>
            <a:off x="85598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38F042-ABD6-478E-851C-478A6F8E68C4}"/>
              </a:ext>
            </a:extLst>
          </p:cNvPr>
          <p:cNvSpPr/>
          <p:nvPr/>
        </p:nvSpPr>
        <p:spPr>
          <a:xfrm>
            <a:off x="838200" y="5207000"/>
            <a:ext cx="10896600" cy="9906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HIMLT lowers the cost of building diagnostic AI while keeping clinical expertise at the center of the process.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CFFFEC6-A326-7DF9-21A5-FA8EAE07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8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2A3E-1410-3A00-5DA2-EC6BDEE8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References &amp; Further Reading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AA8A2F-6454-4F0A-87F2-D3EEAD280E11}"/>
              </a:ext>
            </a:extLst>
          </p:cNvPr>
          <p:cNvSpPr/>
          <p:nvPr/>
        </p:nvSpPr>
        <p:spPr>
          <a:xfrm>
            <a:off x="838200" y="19050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HistomicsML2.0 </a:t>
            </a:r>
            <a:r>
              <a:rPr lang="en-US" sz="1400" dirty="0">
                <a:solidFill>
                  <a:srgbClr val="1F2430"/>
                </a:solidFill>
              </a:rPr>
              <a:t>
Lee S. et al. — “HistomicsML2.0: Fast interactive ML for whole-slide imaging data.” arXiv:2001.11547 (2020)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16B3E-CFD2-4F6B-93EC-8A9796428659}"/>
              </a:ext>
            </a:extLst>
          </p:cNvPr>
          <p:cNvSpPr/>
          <p:nvPr/>
        </p:nvSpPr>
        <p:spPr>
          <a:xfrm>
            <a:off x="838200" y="20574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0CC3E9-F4D3-41FF-8B5E-9C9FFCB87FC9}"/>
              </a:ext>
            </a:extLst>
          </p:cNvPr>
          <p:cNvSpPr/>
          <p:nvPr/>
        </p:nvSpPr>
        <p:spPr>
          <a:xfrm>
            <a:off x="838200" y="27432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Peer-reviewed publication</a:t>
            </a:r>
            <a:r>
              <a:rPr lang="en-US" sz="1400" dirty="0">
                <a:solidFill>
                  <a:srgbClr val="1F2430"/>
                </a:solidFill>
              </a:rPr>
              <a:t>
Lee S. et al. — “Interactive classification of whole-slide imaging data for cancer researchers.” Cancer Research 81(4) (2021)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91869-C3B4-4DC8-8C86-16E2F60AA54E}"/>
              </a:ext>
            </a:extLst>
          </p:cNvPr>
          <p:cNvSpPr/>
          <p:nvPr/>
        </p:nvSpPr>
        <p:spPr>
          <a:xfrm>
            <a:off x="838200" y="28956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635771-B36A-4C8C-ACAC-9CEB0F3C3583}"/>
              </a:ext>
            </a:extLst>
          </p:cNvPr>
          <p:cNvSpPr/>
          <p:nvPr/>
        </p:nvSpPr>
        <p:spPr>
          <a:xfrm>
            <a:off x="838200" y="35814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6B2D8C"/>
                </a:solidFill>
              </a:rPr>
              <a:t>Original HistomicsML</a:t>
            </a:r>
            <a:r>
              <a:rPr lang="en-US" sz="1400">
                <a:solidFill>
                  <a:srgbClr val="1F2430"/>
                </a:solidFill>
              </a:rPr>
              <a:t>
“Interactive phenotyping of large-scale histology imaging data with HistomicsML.” Scientific Reports (2017)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FB646-E468-4144-B8E8-50B281993F88}"/>
              </a:ext>
            </a:extLst>
          </p:cNvPr>
          <p:cNvSpPr/>
          <p:nvPr/>
        </p:nvSpPr>
        <p:spPr>
          <a:xfrm>
            <a:off x="838200" y="37338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0BEF96-D143-490A-B2FB-A9FB76F4B724}"/>
              </a:ext>
            </a:extLst>
          </p:cNvPr>
          <p:cNvSpPr/>
          <p:nvPr/>
        </p:nvSpPr>
        <p:spPr>
          <a:xfrm>
            <a:off x="838200" y="56134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6B2D8C"/>
                </a:solidFill>
              </a:rPr>
              <a:t>Documentation &amp; code</a:t>
            </a:r>
            <a:r>
              <a:rPr lang="en-US" sz="1400">
                <a:solidFill>
                  <a:srgbClr val="1F2430"/>
                </a:solidFill>
              </a:rPr>
              <a:t>
Docs: histomicsml2.readthedocs.io   |   Source: github.com/PathologyDataScience/HistomicsML2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48DAA8-8580-49AF-A63C-9A33EB4C7440}"/>
              </a:ext>
            </a:extLst>
          </p:cNvPr>
          <p:cNvSpPr/>
          <p:nvPr/>
        </p:nvSpPr>
        <p:spPr>
          <a:xfrm>
            <a:off x="838200" y="57658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6CB722-3A9E-4BE8-B798-963DA242C654}"/>
              </a:ext>
            </a:extLst>
          </p:cNvPr>
          <p:cNvSpPr/>
          <p:nvPr/>
        </p:nvSpPr>
        <p:spPr>
          <a:xfrm>
            <a:off x="838200" y="4419600"/>
            <a:ext cx="10896600" cy="1092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Feature fusion method (HMAF)</a:t>
            </a:r>
            <a:r>
              <a:rPr lang="en-US" sz="1400" dirty="0">
                <a:solidFill>
                  <a:srgbClr val="1F2430"/>
                </a:solidFill>
              </a:rPr>
              <a:t>
S. Barua, S. </a:t>
            </a:r>
            <a:r>
              <a:rPr lang="en-US" sz="1400" dirty="0" err="1">
                <a:solidFill>
                  <a:srgbClr val="1F2430"/>
                </a:solidFill>
              </a:rPr>
              <a:t>Yellu</a:t>
            </a:r>
            <a:r>
              <a:rPr lang="en-US" sz="1400" dirty="0">
                <a:solidFill>
                  <a:srgbClr val="1F2430"/>
                </a:solidFill>
              </a:rPr>
              <a:t>, S. C. Koganti, J. Yun, S. Lee — “HMAF: Hybrid Modality Attention for Fusing Hand-Crafted and Deep-Learned Features.” 2026 International Conference on Semantic Computing (ICSC), IEEE, </a:t>
            </a:r>
            <a:r>
              <a:rPr lang="en-US" sz="1400">
                <a:solidFill>
                  <a:srgbClr val="1F2430"/>
                </a:solidFill>
              </a:rPr>
              <a:t>2026,</a:t>
            </a:r>
            <a:endParaRPr lang="en-US" sz="1400" dirty="0">
              <a:solidFill>
                <a:srgbClr val="1F243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9F6B26-42B7-4487-A1F2-F4EC0636E2BA}"/>
              </a:ext>
            </a:extLst>
          </p:cNvPr>
          <p:cNvSpPr/>
          <p:nvPr/>
        </p:nvSpPr>
        <p:spPr>
          <a:xfrm>
            <a:off x="838200" y="4572000"/>
            <a:ext cx="63500" cy="7874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D92FF58-5943-4E43-AEB4-924DE52F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231764429]">
  <a:themeElements>
    <a:clrScheme name="Office">
      <a:dk1>
        <a:srgbClr val="1F2430"/>
      </a:dk1>
      <a:lt1>
        <a:srgbClr val="FBF9FA"/>
      </a:lt1>
      <a:dk2>
        <a:srgbClr val="3D2C47"/>
      </a:dk2>
      <a:lt2>
        <a:srgbClr val="EDE7EF"/>
      </a:lt2>
      <a:accent1>
        <a:srgbClr val="6B2D8C"/>
      </a:accent1>
      <a:accent2>
        <a:srgbClr val="C94F7C"/>
      </a:accent2>
      <a:accent3>
        <a:srgbClr val="2A9D8F"/>
      </a:accent3>
      <a:accent4>
        <a:srgbClr val="E9A03B"/>
      </a:accent4>
      <a:accent5>
        <a:srgbClr val="4A6FA5"/>
      </a:accent5>
      <a:accent6>
        <a:srgbClr val="7A8B99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a6c784-4631-4b04-a0e2-ab4f851aa33f}">
  <we:reference id="WA200010001" version="1.0.0.1" store="en-US" storeType="OMEX"/>
  <we:alternateReferences/>
  <we:properties>
    <we:property name="Microsoft.Office.CampaignId" value="&quot;none&quot;"/>
    <we:property name="claude.fileId" value="&quot;c39a376e-ee13-4712-ad01-caca3b18129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1092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Segoe UI Semibold</vt:lpstr>
      <vt:lpstr>Office Theme [1786231764429]</vt:lpstr>
      <vt:lpstr>1_Custom Design</vt:lpstr>
      <vt:lpstr>Custom Design</vt:lpstr>
      <vt:lpstr>Introduction to HIMLT &amp; Whole-Slide Image Processing</vt:lpstr>
      <vt:lpstr>What is Histopathology? The microscopic study of tissue to diagnose disease — most commonly cancer</vt:lpstr>
      <vt:lpstr>From Glass Slide to Digital Image</vt:lpstr>
      <vt:lpstr>Why WSIs Can't Be Loaded Like Normal Images</vt:lpstr>
      <vt:lpstr>What is HIMLT?</vt:lpstr>
      <vt:lpstr>Lineage: HIMLT Extends HistomicsML2</vt:lpstr>
      <vt:lpstr>The Core Idea: Active Learning</vt:lpstr>
      <vt:lpstr>Under the Hood: Feature Extraction</vt:lpstr>
      <vt:lpstr>The Classifier: Random Forest</vt:lpstr>
      <vt:lpstr>System Architecture Overview</vt:lpstr>
      <vt:lpstr>Why This Matters</vt:lpstr>
      <vt:lpstr>References &amp; 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Deepthi kondreddy</cp:lastModifiedBy>
  <cp:revision>4</cp:revision>
  <dcterms:created xsi:type="dcterms:W3CDTF">2018-06-07T21:39:02Z</dcterms:created>
  <dcterms:modified xsi:type="dcterms:W3CDTF">2026-08-09T00:59:39Z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